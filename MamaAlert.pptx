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334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92608"/>
            <a:ext cx="1627632" cy="320040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0" y="29260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20" dirty="0">
                <a:solidFill>
                  <a:srgbClr val="FFFFFF"/>
                </a:solidFill>
              </a:rPr>
              <a:t>SDG 3 - HEALTH &amp; WELL-BEING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164592" cy="164592"/>
          </a:xfrm>
          <a:prstGeom prst="ellipse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258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Mama</a:t>
            </a:r>
            <a:r>
              <a:rPr lang="en-US" sz="62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347472" y="24871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tap. One community. One life saved.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2999232"/>
            <a:ext cx="3840480" cy="20117"/>
          </a:xfrm>
          <a:prstGeom prst="rect">
            <a:avLst/>
          </a:prstGeom>
          <a:solidFill>
            <a:srgbClr val="3E3020"/>
          </a:solidFill>
          <a:ln w="12700">
            <a:solidFill>
              <a:srgbClr val="3E3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7A6A60"/>
                </a:solidFill>
              </a:rPr>
              <a:t>GNEC Hackathon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34930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FAF6"/>
                </a:solidFill>
              </a:rPr>
              <a:t>Fahim Badgujar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63640" y="868680"/>
            <a:ext cx="2560320" cy="3429000"/>
          </a:xfrm>
          <a:prstGeom prst="rect">
            <a:avLst/>
          </a:prstGeom>
          <a:solidFill>
            <a:srgbClr val="1A1008"/>
          </a:solidFill>
          <a:ln w="12700">
            <a:solidFill>
              <a:srgbClr val="2A1E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868680"/>
            <a:ext cx="2560320" cy="5029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0972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260,000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63640" y="21214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A89080"/>
                </a:solidFill>
              </a:rPr>
              <a:t>women die in</a:t>
            </a:r>
            <a:endParaRPr lang="en-US" sz="12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A89080"/>
                </a:solidFill>
              </a:rPr>
              <a:t>childbirth every year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2926080"/>
            <a:ext cx="1645920" cy="20117"/>
          </a:xfrm>
          <a:prstGeom prst="rect">
            <a:avLst/>
          </a:prstGeom>
          <a:solidFill>
            <a:srgbClr val="3E3020"/>
          </a:solidFill>
          <a:ln w="12700">
            <a:solidFill>
              <a:srgbClr val="3E3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E3020"/>
                </a:solidFill>
              </a:rPr>
              <a:t>WHO Global Health Estimates 2023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4522A"/>
                </a:solidFill>
              </a:rPr>
              <a:t>THE CRISIS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2 minutes,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mother dies.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600" i="1" dirty="0">
                <a:solidFill>
                  <a:srgbClr val="A89080"/>
                </a:solidFill>
              </a:rPr>
              <a:t>Not because medicine doesn't exist.</a:t>
            </a:r>
            <a:endParaRPr lang="en-US" sz="16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600" i="1" dirty="0">
                <a:solidFill>
                  <a:srgbClr val="A89080"/>
                </a:solidFill>
              </a:rPr>
              <a:t>Because help never reached her in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502920"/>
            <a:ext cx="2834640" cy="1325880"/>
          </a:xfrm>
          <a:prstGeom prst="rect">
            <a:avLst/>
          </a:prstGeom>
          <a:solidFill>
            <a:srgbClr val="1A1008"/>
          </a:solidFill>
          <a:ln w="12700">
            <a:solidFill>
              <a:srgbClr val="2A1E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502920"/>
            <a:ext cx="54864" cy="1325880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4768" y="5943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144768" y="1252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80"/>
                </a:solidFill>
              </a:rPr>
              <a:t>deaths per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44768" y="16002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E3020"/>
                </a:solidFill>
              </a:rPr>
              <a:t>WHO 2023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035040" y="2011680"/>
            <a:ext cx="2834640" cy="1325880"/>
          </a:xfrm>
          <a:prstGeom prst="rect">
            <a:avLst/>
          </a:prstGeom>
          <a:solidFill>
            <a:srgbClr val="1A1008"/>
          </a:solidFill>
          <a:ln w="12700">
            <a:solidFill>
              <a:srgbClr val="2A1E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2011680"/>
            <a:ext cx="54864" cy="1325880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103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42-52%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44768" y="2761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80"/>
                </a:solidFill>
              </a:rPr>
              <a:t>occur at home or in transit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31089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E3020"/>
                </a:solidFill>
              </a:rPr>
              <a:t>India State Studies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35040" y="3520440"/>
            <a:ext cx="2834640" cy="1325880"/>
          </a:xfrm>
          <a:prstGeom prst="rect">
            <a:avLst/>
          </a:prstGeom>
          <a:solidFill>
            <a:srgbClr val="1A1008"/>
          </a:solidFill>
          <a:ln w="12700">
            <a:solidFill>
              <a:srgbClr val="2A1E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520440"/>
            <a:ext cx="54864" cy="1325880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6118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4.1x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44768" y="42702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9080"/>
                </a:solidFill>
              </a:rPr>
              <a:t>higher risk for rural mothers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4617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E3020"/>
                </a:solidFill>
              </a:rPr>
              <a:t>Lancet 2022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7472" y="4773168"/>
            <a:ext cx="8503920" cy="201168"/>
          </a:xfrm>
          <a:prstGeom prst="rect">
            <a:avLst/>
          </a:prstGeom>
          <a:solidFill>
            <a:srgbClr val="1A1008"/>
          </a:solidFill>
          <a:ln w="12700">
            <a:solidFill>
              <a:srgbClr val="1A10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7731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E3020"/>
                </a:solidFill>
              </a:rPr>
              <a:t>These are not statistics. These are the documented patterns behind 260,000 deaths a year. Every one of them preventable.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522A"/>
                </a:solidFill>
              </a:rPr>
              <a:t>WHY MOTHERS DIE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not one thing. It's three.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272491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25880"/>
            <a:ext cx="2724912" cy="5029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630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DD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12064" y="20848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4522A"/>
                </a:solidFill>
              </a:rPr>
              <a:t>DELAY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2064" y="23317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12064" y="2798064"/>
            <a:ext cx="2395728" cy="16459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852928"/>
            <a:ext cx="23957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5B4E"/>
                </a:solidFill>
              </a:rPr>
              <a:t>Danger signs go unrecognised. Fear, cultural norms, and uncertainty consume the minutes she doesn't have.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" y="4315968"/>
            <a:ext cx="2395728" cy="320040"/>
          </a:xfrm>
          <a:prstGeom prst="rect">
            <a:avLst/>
          </a:prstGeom>
          <a:solidFill>
            <a:srgbClr val="FAF0E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43159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522A"/>
                </a:solidFill>
              </a:rPr>
              <a:t>2-6 hours lost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72491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25880"/>
            <a:ext cx="2724912" cy="5029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4630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DD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64992" y="20848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4522A"/>
                </a:solidFill>
              </a:rPr>
              <a:t>DELAY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64992" y="23317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Journey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364992" y="2798064"/>
            <a:ext cx="2395728" cy="16459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2852928"/>
            <a:ext cx="23957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5B4E"/>
                </a:solidFill>
              </a:rPr>
              <a:t>No vehicle. No road. No one awake. 42-52% of maternal deaths happen before a woman ever reaches a hospital.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64992" y="4315968"/>
            <a:ext cx="2395728" cy="320040"/>
          </a:xfrm>
          <a:prstGeom prst="rect">
            <a:avLst/>
          </a:prstGeom>
          <a:solidFill>
            <a:srgbClr val="FAF0E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43159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522A"/>
                </a:solidFill>
              </a:rPr>
              <a:t>1.5-3 hours lost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1325880"/>
            <a:ext cx="272491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53328" y="1325880"/>
            <a:ext cx="2724912" cy="5029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4630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DD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20848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4522A"/>
                </a:solidFill>
              </a:rPr>
              <a:t>DELAY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0" y="23317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Wait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217920" y="2798064"/>
            <a:ext cx="2395728" cy="16459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852928"/>
            <a:ext cx="23957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B5B4E"/>
                </a:solidFill>
              </a:rPr>
              <a:t>She arrives. But the facility wasn't ready. No blood prepared. No room cleared. Minutes become fatal.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315968"/>
            <a:ext cx="2395728" cy="320040"/>
          </a:xfrm>
          <a:prstGeom prst="rect">
            <a:avLst/>
          </a:prstGeom>
          <a:solidFill>
            <a:srgbClr val="FAF0E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31596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522A"/>
                </a:solidFill>
              </a:rPr>
              <a:t>45 min-2 hours lost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DFAF6"/>
                </a:solidFill>
              </a:rPr>
              <a:t>MamaAlert collapses all three delays - simultaneously - in under 60 seconds.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45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9B3D1C"/>
                </a:solidFill>
              </a:rPr>
              <a:t>INTRODUCING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Mama</a:t>
            </a:r>
            <a:r>
              <a:rPr lang="en-US" sz="7400" b="1" dirty="0">
                <a:solidFill>
                  <a:srgbClr val="1A10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3200400" y="2487168"/>
            <a:ext cx="2743200" cy="20117"/>
          </a:xfrm>
          <a:prstGeom prst="rect">
            <a:avLst/>
          </a:prstGeom>
          <a:solidFill>
            <a:srgbClr val="9B3D1C"/>
          </a:solidFill>
          <a:ln w="12700">
            <a:solidFill>
              <a:srgbClr val="9B3D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633472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A community-powered maternal emergency alert system.</a:t>
            </a:r>
            <a:endParaRPr lang="en-US" sz="1500" dirty="0"/>
          </a:p>
          <a:p>
            <a:pPr marL="0" indent="0" algn="ctr">
              <a:lnSpc>
                <a:spcPct val="16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One tap activates every trained volunteer within 5km.</a:t>
            </a:r>
            <a:endParaRPr lang="en-US" sz="1500" dirty="0"/>
          </a:p>
          <a:p>
            <a:pPr marL="0" indent="0" algn="ctr">
              <a:lnSpc>
                <a:spcPct val="16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The nearest clinic prepares before she arrives.</a:t>
            </a:r>
            <a:endParaRPr lang="en-US" sz="1500" dirty="0"/>
          </a:p>
          <a:p>
            <a:pPr marL="0" indent="0" algn="ctr">
              <a:lnSpc>
                <a:spcPct val="16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Her family knows she is safe.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53312" y="4343400"/>
            <a:ext cx="2121408" cy="475488"/>
          </a:xfrm>
          <a:prstGeom prst="rect">
            <a:avLst/>
          </a:prstGeom>
          <a:solidFill>
            <a:srgbClr val="1A1008"/>
          </a:solidFill>
          <a:ln w="12700">
            <a:solidFill>
              <a:srgbClr val="1A10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434340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Works offline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30752" y="4343400"/>
            <a:ext cx="2121408" cy="475488"/>
          </a:xfrm>
          <a:prstGeom prst="rect">
            <a:avLst/>
          </a:prstGeom>
          <a:solidFill>
            <a:srgbClr val="1A1008"/>
          </a:solidFill>
          <a:ln w="12700">
            <a:solidFill>
              <a:srgbClr val="1A10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434340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 smartphone 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08192" y="4343400"/>
            <a:ext cx="2121408" cy="475488"/>
          </a:xfrm>
          <a:prstGeom prst="rect">
            <a:avLst/>
          </a:prstGeom>
          <a:solidFill>
            <a:srgbClr val="1A1008"/>
          </a:solidFill>
          <a:ln w="12700">
            <a:solidFill>
              <a:srgbClr val="1A10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434340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 forever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REAL SCENARIO - 01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Priya, 24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B4E"/>
                </a:solidFill>
              </a:rPr>
              <a:t>38 weeks  -  Maharashtra, India  -  2:41 AM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50292" cy="1572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3736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A89080"/>
                </a:solidFill>
              </a:rPr>
              <a:t>THE SITUATION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C2416"/>
                </a:solidFill>
              </a:rPr>
              <a:t>Severe bleeding. Husband 200km away.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C2416"/>
                </a:solidFill>
              </a:rPr>
              <a:t>Elderly mother-in-law. No vehicle. No phone credit.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C2416"/>
                </a:solidFill>
              </a:rPr>
              <a:t>She is alone.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64608" y="1426464"/>
            <a:ext cx="173736" cy="1737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6904" y="1600200"/>
            <a:ext cx="12802" cy="402336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3898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80"/>
                </a:solidFill>
              </a:rPr>
              <a:t>T + 0:00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91072" y="138988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416"/>
                </a:solidFill>
              </a:rPr>
              <a:t>Priya taps SOS on PWA bookmark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64608" y="1993392"/>
            <a:ext cx="173736" cy="173736"/>
          </a:xfrm>
          <a:prstGeom prst="ellipse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46904" y="2167128"/>
            <a:ext cx="12802" cy="402336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19568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80"/>
                </a:solidFill>
              </a:rPr>
              <a:t>T + 0:05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91072" y="19568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416"/>
                </a:solidFill>
              </a:rPr>
              <a:t>SMS fires to 4 volunteers within 5km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64608" y="2560320"/>
            <a:ext cx="173736" cy="17373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46904" y="2734056"/>
            <a:ext cx="12802" cy="402336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5237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80"/>
                </a:solidFill>
              </a:rPr>
              <a:t>T + 0:43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91072" y="25237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416"/>
                </a:solidFill>
              </a:rPr>
              <a:t>Ravi (1.2km) replies YES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64608" y="3127248"/>
            <a:ext cx="173736" cy="17373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46904" y="3300984"/>
            <a:ext cx="12802" cy="402336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30906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80"/>
                </a:solidFill>
              </a:rPr>
              <a:t>T + 0:43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91072" y="3090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416"/>
                </a:solidFill>
              </a:rPr>
              <a:t>PHC Wai pre-alerted - blood B+ ready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64608" y="3694176"/>
            <a:ext cx="173736" cy="17373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46904" y="3867912"/>
            <a:ext cx="12802" cy="402336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36576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80"/>
                </a:solidFill>
              </a:rPr>
              <a:t>T + 0:43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91072" y="36576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416"/>
                </a:solidFill>
              </a:rPr>
              <a:t>Husband Rahul gets family status SMS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64608" y="4261104"/>
            <a:ext cx="173736" cy="173736"/>
          </a:xfrm>
          <a:prstGeom prst="ellipse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57216" y="42245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9080"/>
                </a:solidFill>
              </a:rPr>
              <a:t>T + 22min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91072" y="422452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</a:rPr>
              <a:t>Priya arrives. Staff prepared. She survives.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0E6D3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53712" y="4864608"/>
            <a:ext cx="20117" cy="182880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828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Without MamaAlert: </a:t>
            </a:r>
            <a:r>
              <a:rPr lang="en-US" sz="1000" dirty="0">
                <a:solidFill>
                  <a:srgbClr val="6B5B4E"/>
                </a:solidFill>
              </a:rPr>
              <a:t>reached clinic at 5:15 AM - Fatal delay 2h 34min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4828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With MamaAlert: </a:t>
            </a:r>
            <a:r>
              <a:rPr lang="en-US" sz="1000" dirty="0">
                <a:solidFill>
                  <a:srgbClr val="6B5B4E"/>
                </a:solidFill>
              </a:rPr>
              <a:t>response in 22 minutes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522A"/>
                </a:solidFill>
              </a:rPr>
              <a:t>TWO MORE WOMEN. TWO MORE EDGES COVERED.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47472" y="621792"/>
            <a:ext cx="4133088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621792"/>
            <a:ext cx="4133088" cy="5029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04672"/>
            <a:ext cx="1965960" cy="25603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REAL SCENARIO - 02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Amara, 19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B4E"/>
                </a:solidFill>
              </a:rPr>
              <a:t>Adansi, Ghana - 11:17 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3730752" cy="1463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A89080"/>
                </a:solidFill>
              </a:rPr>
              <a:t>SITUATION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2231136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2416"/>
                </a:solidFill>
              </a:rPr>
              <a:t>40 weeks. Alone. Basic Nokia phone. No internet. No smartphone. Active labour.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4522A"/>
                </a:solidFill>
              </a:rPr>
              <a:t>HOW SHE TRIGGERED IT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2416"/>
                </a:solidFill>
              </a:rPr>
              <a:t>Dialled *456#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2416"/>
                </a:solidFill>
              </a:rPr>
              <a:t>USSD - zero internet needed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3730752" cy="1097280"/>
          </a:xfrm>
          <a:prstGeom prst="rect">
            <a:avLst/>
          </a:prstGeom>
          <a:solidFill>
            <a:srgbClr val="FAF0E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749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4522A"/>
                </a:solidFill>
              </a:rPr>
              <a:t>OUTCOME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94944" y="39684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16"/>
                </a:solidFill>
              </a:rPr>
              <a:t>Sister Agnes + Kofi mobilised.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16"/>
                </a:solidFill>
              </a:rPr>
              <a:t>Response: 38 minutes.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1728" y="621792"/>
            <a:ext cx="4133088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621792"/>
            <a:ext cx="4133088" cy="502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804672"/>
            <a:ext cx="196596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804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REAL SCENARIO - 03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82896" y="11338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Fatima, 31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82896" y="1664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B4E"/>
                </a:solidFill>
              </a:rPr>
              <a:t>Maiduguri, Nigeria - 4:56 PM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82896" y="1956816"/>
            <a:ext cx="3730752" cy="1463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01168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A89080"/>
                </a:solidFill>
              </a:rPr>
              <a:t>SITUATION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82896" y="2231136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2416"/>
                </a:solidFill>
              </a:rPr>
              <a:t>Pre-eclampsia. Blurred vision. Cannot speak. Alone with two children.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82896" y="2852928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D6A4F"/>
                </a:solidFill>
              </a:rPr>
              <a:t>HOW SHE TRIGGERED IT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82896" y="3072384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2416"/>
                </a:solidFill>
              </a:rPr>
              <a:t>One tap. Could do no more.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C2416"/>
                </a:solidFill>
              </a:rPr>
              <a:t>System detected incapacitation.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82896" y="3675888"/>
            <a:ext cx="3730752" cy="1097280"/>
          </a:xfrm>
          <a:prstGeom prst="rect">
            <a:avLst/>
          </a:prstGeom>
          <a:solidFill>
            <a:srgbClr val="EAF4EE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749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D6A4F"/>
                </a:solidFill>
              </a:rPr>
              <a:t>OUTCOME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39684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16"/>
                </a:solidFill>
              </a:rPr>
              <a:t>Auto-escalated to Priority 2.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C2416"/>
                </a:solidFill>
              </a:rPr>
              <a:t>Nurse Blessing arrived in 7 minutes.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522A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seconds. Start to finish.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18953" y="1753819"/>
            <a:ext cx="256032" cy="20117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261872"/>
            <a:ext cx="896112" cy="8961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26187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2249424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Patient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triggers SOS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2852928"/>
            <a:ext cx="16276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2000"/>
              </a:lnSpc>
              <a:buNone/>
            </a:pPr>
            <a:r>
              <a:rPr lang="en-US" sz="980" dirty="0">
                <a:solidFill>
                  <a:srgbClr val="6B5B4E"/>
                </a:solidFill>
              </a:rPr>
              <a:t>PWA tap / USSD *456# / SMS keyword. Offline mode queues to IndexedDB and sends when signal returns.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502152" y="1753818"/>
            <a:ext cx="256032" cy="20117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1261872"/>
            <a:ext cx="896112" cy="896112"/>
          </a:xfrm>
          <a:prstGeom prst="ellipse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126187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57400" y="2249424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Radius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query fires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57400" y="2852928"/>
            <a:ext cx="16276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2000"/>
              </a:lnSpc>
              <a:buNone/>
            </a:pPr>
            <a:r>
              <a:rPr lang="en-US" sz="980" dirty="0">
                <a:solidFill>
                  <a:srgbClr val="6B5B4E"/>
                </a:solidFill>
              </a:rPr>
              <a:t>PostGIS finds every active volunteer within 5km. Sorted by distance. SMS fires to all simultaneously.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221224" y="1773936"/>
            <a:ext cx="256032" cy="20117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1261872"/>
            <a:ext cx="896112" cy="8961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26187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67328" y="2249424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Volunteer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replies YES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67328" y="2852928"/>
            <a:ext cx="16276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2000"/>
              </a:lnSpc>
              <a:buNone/>
            </a:pPr>
            <a:r>
              <a:rPr lang="en-US" sz="980" dirty="0">
                <a:solidFill>
                  <a:srgbClr val="6B5B4E"/>
                </a:solidFill>
              </a:rPr>
              <a:t>SMS only - no app needed. Twilio webhook confirms and routes directions to the volunteer's phone.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922008" y="1773935"/>
            <a:ext cx="256032" cy="20117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3288" y="1261872"/>
            <a:ext cx="896112" cy="896112"/>
          </a:xfrm>
          <a:prstGeom prst="ellipse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33288" y="126187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77256" y="2249424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Clinic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pre-alerted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77256" y="2852928"/>
            <a:ext cx="16276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2000"/>
              </a:lnSpc>
              <a:buNone/>
            </a:pPr>
            <a:r>
              <a:rPr lang="en-US" sz="980" dirty="0">
                <a:solidFill>
                  <a:srgbClr val="6B5B4E"/>
                </a:solidFill>
              </a:rPr>
              <a:t>Nearest hospital gets: patient name, blood type, risk flags, volunteer name, ETA. Staff prepare before arrival.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443216" y="1261872"/>
            <a:ext cx="896112" cy="896112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1261872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87184" y="2249424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Family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2416"/>
                </a:solidFill>
              </a:rPr>
              <a:t>notified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87184" y="2852928"/>
            <a:ext cx="16276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2000"/>
              </a:lnSpc>
              <a:buNone/>
            </a:pPr>
            <a:r>
              <a:rPr lang="en-US" sz="980" dirty="0">
                <a:solidFill>
                  <a:srgbClr val="6B5B4E"/>
                </a:solidFill>
              </a:rPr>
              <a:t>Emergency contacts receive SMS + token link. Status page auto-refreshes. No login. No app needed.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773168"/>
            <a:ext cx="85039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DFAF6"/>
                </a:solidFill>
              </a:rPr>
              <a:t>If no volunteer responds in 5 minutes - escalation widens to 10km, then 20km. The coordinator is paged. The system never gives up.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522A"/>
                </a:solidFill>
              </a:rPr>
              <a:t>THE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roles. One codebase. Installed from the landing page - no app store.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33472" cy="3822192"/>
          </a:xfrm>
          <a:prstGeom prst="roundRect">
            <a:avLst>
              <a:gd name="adj" fmla="val 8333"/>
            </a:avLst>
          </a:prstGeom>
          <a:solidFill>
            <a:srgbClr val="1A1008"/>
          </a:solidFill>
          <a:ln w="12700">
            <a:solidFill>
              <a:srgbClr val="3A2E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2359152" cy="3419856"/>
          </a:xfrm>
          <a:prstGeom prst="rect">
            <a:avLst/>
          </a:prstGeom>
          <a:solidFill>
            <a:srgbClr val="2A0808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7160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Patient SOS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05256" y="1920240"/>
            <a:ext cx="1645920" cy="1645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9202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SOS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" y="37033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9080"/>
                </a:solidFill>
              </a:rPr>
              <a:t>Priya Sharma - 38 weeks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" y="404164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6A4F"/>
                </a:solidFill>
              </a:rPr>
              <a:t>* Online - Ravi responding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4892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FAF6"/>
                </a:solidFill>
              </a:rPr>
              <a:t>Patient SOS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1005840"/>
            <a:ext cx="2633472" cy="3822192"/>
          </a:xfrm>
          <a:prstGeom prst="roundRect">
            <a:avLst>
              <a:gd name="adj" fmla="val 8333"/>
            </a:avLst>
          </a:prstGeom>
          <a:solidFill>
            <a:srgbClr val="1A1008"/>
          </a:solidFill>
          <a:ln w="12700">
            <a:solidFill>
              <a:srgbClr val="3A2E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1207008"/>
            <a:ext cx="2359152" cy="3419856"/>
          </a:xfrm>
          <a:prstGeom prst="rect">
            <a:avLst/>
          </a:prstGeom>
          <a:solidFill>
            <a:srgbClr val="0A22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137160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Volunteer 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9584" y="1874520"/>
            <a:ext cx="2304288" cy="566928"/>
          </a:xfrm>
          <a:prstGeom prst="rect">
            <a:avLst/>
          </a:prstGeom>
          <a:solidFill>
            <a:srgbClr val="1A4A2E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192024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835A"/>
                </a:solidFill>
              </a:rPr>
              <a:t>! MAMA ALERT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9584" y="21305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AF6"/>
                </a:solidFill>
              </a:rPr>
              <a:t>Priya Sharma  -  1.2km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9584" y="2578608"/>
            <a:ext cx="230428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9584" y="2578608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YES - I AM GOING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29584" y="3182112"/>
            <a:ext cx="2304288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318211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080"/>
                </a:solidFill>
              </a:rPr>
              <a:t>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4892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FAF6"/>
                </a:solidFill>
              </a:rPr>
              <a:t>Volunteer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1005840"/>
            <a:ext cx="2633472" cy="3822192"/>
          </a:xfrm>
          <a:prstGeom prst="roundRect">
            <a:avLst>
              <a:gd name="adj" fmla="val 8333"/>
            </a:avLst>
          </a:prstGeom>
          <a:solidFill>
            <a:srgbClr val="1A1008"/>
          </a:solidFill>
          <a:ln w="12700">
            <a:solidFill>
              <a:srgbClr val="3A2E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207008"/>
            <a:ext cx="2359152" cy="3419856"/>
          </a:xfrm>
          <a:prstGeom prst="rect">
            <a:avLst/>
          </a:prstGeom>
          <a:solidFill>
            <a:srgbClr val="08182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37160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Coordinator View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73952" y="1828800"/>
            <a:ext cx="2304288" cy="475488"/>
          </a:xfrm>
          <a:prstGeom prst="rect">
            <a:avLst/>
          </a:prstGeom>
          <a:solidFill>
            <a:srgbClr val="0A1E30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182880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FA8"/>
                </a:solidFill>
              </a:rPr>
              <a:t>1 ACTIVE ALERT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73952" y="242316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950" dirty="0">
                <a:solidFill>
                  <a:srgbClr val="A89080"/>
                </a:solidFill>
              </a:rPr>
              <a:t>Priya - Ravi responding</a:t>
            </a:r>
            <a:endParaRPr lang="en-US" sz="9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950" dirty="0">
                <a:solidFill>
                  <a:srgbClr val="A89080"/>
                </a:solidFill>
              </a:rPr>
              <a:t>PHC Wai pre-alerted [OK]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73952" y="312724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A89080"/>
                </a:solidFill>
              </a:rPr>
              <a:t>Volunteers: 3 alerted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A89080"/>
                </a:solidFill>
              </a:rPr>
              <a:t>Response time: 43s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4892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FAF6"/>
                </a:solidFill>
              </a:rPr>
              <a:t>Coordinator 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522A"/>
                </a:solidFill>
              </a:rPr>
              <a:t>SIX ROLES. ZERO FRICTION.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person enters at their level.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133856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33856"/>
            <a:ext cx="50292" cy="17190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801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Phone number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4E"/>
                </a:solidFill>
              </a:rPr>
              <a:t>Trigger SOS from any device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395728"/>
            <a:ext cx="123444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957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Offline capable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133856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33856"/>
            <a:ext cx="50292" cy="17190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2801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6459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Phone number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4E"/>
                </a:solidFill>
              </a:rPr>
              <a:t>SMS primary - App optional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395728"/>
            <a:ext cx="123444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3957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Offline capable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36208" y="1133856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133856"/>
            <a:ext cx="50292" cy="171907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2801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Worker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9088" y="16459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A8"/>
                </a:solidFill>
              </a:rPr>
              <a:t>Email + password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19088" y="192024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4E"/>
                </a:solidFill>
              </a:rPr>
              <a:t>Register patients &amp; volunteers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19088" y="243230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0BC"/>
                </a:solidFill>
              </a:rPr>
              <a:t>Online only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035808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035808"/>
            <a:ext cx="50292" cy="17190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18211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" y="3547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</a:rPr>
              <a:t>SMS only - No login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" y="382219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4E"/>
                </a:solidFill>
              </a:rPr>
              <a:t>Receive pre-alerts - Reply ARRIVED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433425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0BC"/>
                </a:solidFill>
              </a:rPr>
              <a:t>Online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3035808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3035808"/>
            <a:ext cx="50292" cy="1719072"/>
          </a:xfrm>
          <a:prstGeom prst="rect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18211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74720" y="3547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FA8"/>
                </a:solidFill>
              </a:rPr>
              <a:t>URL token - No login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382219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4E"/>
                </a:solidFill>
              </a:rPr>
              <a:t>Read-only status - Auto-refreshes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433425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0BC"/>
                </a:solidFill>
              </a:rPr>
              <a:t>Online only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36208" y="3035808"/>
            <a:ext cx="2798064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3035808"/>
            <a:ext cx="50292" cy="1719072"/>
          </a:xfrm>
          <a:prstGeom prst="rect">
            <a:avLst/>
          </a:prstGeom>
          <a:solidFill>
            <a:srgbClr val="6B5B4E"/>
          </a:solidFill>
          <a:ln w="12700">
            <a:solidFill>
              <a:srgbClr val="6B5B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318211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NGO Admin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088" y="3547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5B4E"/>
                </a:solidFill>
              </a:rPr>
              <a:t>Email + password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19088" y="382219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4E"/>
                </a:solidFill>
              </a:rPr>
              <a:t>Manage zones - View all alerts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19088" y="433425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0BC"/>
                </a:solidFill>
              </a:rPr>
              <a:t>Online only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75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SDG 3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347472" y="14813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Health</a:t>
            </a:r>
            <a:endParaRPr lang="en-US" sz="2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Well-Being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2578608"/>
            <a:ext cx="2926080" cy="20117"/>
          </a:xfrm>
          <a:prstGeom prst="rect">
            <a:avLst/>
          </a:prstGeom>
          <a:solidFill>
            <a:srgbClr val="3E3020"/>
          </a:solidFill>
          <a:ln w="12700">
            <a:solidFill>
              <a:srgbClr val="3E3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761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522A"/>
                </a:solidFill>
              </a:rPr>
              <a:t>Target 3.1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3035808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89080"/>
                </a:solidFill>
              </a:rPr>
              <a:t>Reduce the global maternal mortality ratio to fewer than 70 per 100,000 live births by 2030.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74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4522A"/>
                </a:solidFill>
              </a:rPr>
              <a:t>HOW MAMAALERT DELIVERS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69494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42-52%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897880" y="7132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B5B4E"/>
                </a:solidFill>
              </a:rPr>
              <a:t>of maternal deaths happen in transit or at home. MamaAlert's volunteer network closes this gap directly.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591056"/>
            <a:ext cx="4754880" cy="12802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7373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 sec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97880" y="17556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B5B4E"/>
                </a:solidFill>
              </a:rPr>
              <a:t>Full alert activation - PostGIS radius query, SMS to all volunteers, clinic pre-alert - in under a minute.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633472"/>
            <a:ext cx="4754880" cy="12802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77977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897880" y="279806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B5B4E"/>
                </a:solidFill>
              </a:rPr>
              <a:t>countries covered via SMS and USSD. No internet required. Works on any phone made since 1998.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3675888"/>
            <a:ext cx="4754880" cy="12802"/>
          </a:xfrm>
          <a:prstGeom prst="rect">
            <a:avLst/>
          </a:prstGeom>
          <a:solidFill>
            <a:srgbClr val="DDD0BC"/>
          </a:solidFill>
          <a:ln w="12700">
            <a:solidFill>
              <a:srgbClr val="DDD0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82219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delays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897880" y="3840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6B5B4E"/>
                </a:solidFill>
              </a:rPr>
              <a:t>collapsed simultaneously. Decision, journey, and facility preparation - one SOS trigger addresses all three.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522A"/>
                </a:solidFill>
              </a:rPr>
              <a:t>THE GNEC ADVANTAGE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1,600 NGO subsidiaries.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 already exists.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57276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572768"/>
            <a:ext cx="2798064" cy="5029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55648"/>
            <a:ext cx="1645920" cy="274320"/>
          </a:xfrm>
          <a:prstGeom prst="rect">
            <a:avLst/>
          </a:prstGeom>
          <a:solidFill>
            <a:srgbClr val="FAF0E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C4522A"/>
                </a:solidFill>
              </a:rPr>
              <a:t>PHASE 1 - PILOT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NGO partners,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districts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414016" cy="1463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99232"/>
            <a:ext cx="24140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8000"/>
              </a:lnSpc>
              <a:buNone/>
            </a:pPr>
            <a:r>
              <a:rPr lang="en-US" sz="1100" dirty="0">
                <a:solidFill>
                  <a:srgbClr val="6B5B4E"/>
                </a:solidFill>
              </a:rPr>
              <a:t>Deploy to existing ASHA and ANM field workers. They register patients at ANC visits. No new infrastructure.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2414016" cy="256032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720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FAF6"/>
                </a:solidFill>
              </a:rPr>
              <a:t>Month 1-3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57276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572768"/>
            <a:ext cx="2798064" cy="5029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3008" y="1755648"/>
            <a:ext cx="1645920" cy="274320"/>
          </a:xfrm>
          <a:prstGeom prst="rect">
            <a:avLst/>
          </a:prstGeom>
          <a:solidFill>
            <a:srgbClr val="FAF0E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C4522A"/>
                </a:solidFill>
              </a:rPr>
              <a:t>PHASE 2 - SCALE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93008" y="2121408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NGO partners,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countries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493008" y="2926080"/>
            <a:ext cx="2414016" cy="1463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999232"/>
            <a:ext cx="24140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8000"/>
              </a:lnSpc>
              <a:buNone/>
            </a:pPr>
            <a:r>
              <a:rPr lang="en-US" sz="1100" dirty="0">
                <a:solidFill>
                  <a:srgbClr val="6B5B4E"/>
                </a:solidFill>
              </a:rPr>
              <a:t>Expand via GNEC's existing partner network. Multilingual SMS already built. USSD for zero-internet regions.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93008" y="4572000"/>
            <a:ext cx="2414016" cy="256032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45720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FAF6"/>
                </a:solidFill>
              </a:rPr>
              <a:t>Month 4-12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157276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C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1572768"/>
            <a:ext cx="2798064" cy="50292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37376" y="1755648"/>
            <a:ext cx="1645920" cy="274320"/>
          </a:xfrm>
          <a:prstGeom prst="rect">
            <a:avLst/>
          </a:prstGeom>
          <a:solidFill>
            <a:srgbClr val="FAF0E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C4522A"/>
                </a:solidFill>
              </a:rPr>
              <a:t>PHASE 3 - NETWORK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37376" y="2121408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1,600 subsidiaries,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coverage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37376" y="2926080"/>
            <a:ext cx="2414016" cy="1463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2999232"/>
            <a:ext cx="24140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8000"/>
              </a:lnSpc>
              <a:buNone/>
            </a:pPr>
            <a:r>
              <a:rPr lang="en-US" sz="1100" dirty="0">
                <a:solidFill>
                  <a:srgbClr val="6B5B4E"/>
                </a:solidFill>
              </a:rPr>
              <a:t>Every GNEC field worker becomes a deployment agent. Every zone creates its own volunteer network. Cost: $0.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37376" y="4572000"/>
            <a:ext cx="2414016" cy="256032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45720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FAF6"/>
                </a:solidFill>
              </a:rPr>
              <a:t>Year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8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build</a:t>
            </a:r>
            <a:endParaRPr lang="en-US" sz="4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8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health app.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2128864"/>
            <a:ext cx="8394192" cy="45719"/>
          </a:xfrm>
          <a:prstGeom prst="rect">
            <a:avLst/>
          </a:prstGeom>
          <a:solidFill>
            <a:srgbClr val="3E3020"/>
          </a:solidFill>
          <a:ln w="12700">
            <a:solidFill>
              <a:srgbClr val="3E3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305203"/>
            <a:ext cx="7132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A8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a network activation system for the humans </a:t>
            </a:r>
            <a:r>
              <a:rPr lang="en-US" sz="20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surrounding every pregnant woman</a:t>
            </a:r>
            <a:r>
              <a:rPr lang="en-US" sz="2000" dirty="0">
                <a:solidFill>
                  <a:srgbClr val="A89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who just need to be called.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4272078"/>
            <a:ext cx="8394192" cy="45719"/>
          </a:xfrm>
          <a:prstGeom prst="rect">
            <a:avLst/>
          </a:prstGeom>
          <a:solidFill>
            <a:srgbClr val="3E3020"/>
          </a:solidFill>
          <a:ln w="12700">
            <a:solidFill>
              <a:srgbClr val="3E3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0740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A60"/>
                </a:solidFill>
              </a:rPr>
              <a:t>SMS - USSD - PWA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87752" y="4443984"/>
            <a:ext cx="12802" cy="182880"/>
          </a:xfrm>
          <a:prstGeom prst="rect">
            <a:avLst/>
          </a:prstGeom>
          <a:solidFill>
            <a:srgbClr val="3E3020"/>
          </a:solidFill>
          <a:ln w="12700">
            <a:solidFill>
              <a:srgbClr val="3E3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440740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A60"/>
                </a:solidFill>
              </a:rPr>
              <a:t>Free to deploy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64024" y="4443984"/>
            <a:ext cx="12802" cy="182880"/>
          </a:xfrm>
          <a:prstGeom prst="rect">
            <a:avLst/>
          </a:prstGeom>
          <a:solidFill>
            <a:srgbClr val="3E3020"/>
          </a:solidFill>
          <a:ln w="12700">
            <a:solidFill>
              <a:srgbClr val="3E3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440740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A60"/>
                </a:solidFill>
              </a:rPr>
              <a:t>Works offline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0296" y="4443984"/>
            <a:ext cx="12802" cy="182880"/>
          </a:xfrm>
          <a:prstGeom prst="rect">
            <a:avLst/>
          </a:prstGeom>
          <a:solidFill>
            <a:srgbClr val="3E3020"/>
          </a:solidFill>
          <a:ln w="12700">
            <a:solidFill>
              <a:srgbClr val="3E3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6016" y="440740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A60"/>
                </a:solidFill>
              </a:rPr>
              <a:t>SDG 3.1 aligned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736592"/>
            <a:ext cx="146304" cy="146304"/>
          </a:xfrm>
          <a:prstGeom prst="ellipse">
            <a:avLst/>
          </a:prstGeom>
          <a:solidFill>
            <a:srgbClr val="C4522A"/>
          </a:solidFill>
          <a:ln w="12700">
            <a:solidFill>
              <a:srgbClr val="C45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700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Mama</a:t>
            </a:r>
            <a:r>
              <a:rPr lang="en-US" sz="1600" b="1" dirty="0">
                <a:solidFill>
                  <a:srgbClr val="C4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7365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3020"/>
                </a:solidFill>
              </a:rPr>
              <a:t>GNEC Hackathon 2026 - Fahim Badgujar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1093</Words>
  <Application>Microsoft Office PowerPoint</Application>
  <PresentationFormat>On-screen Show 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MamaAlert - GNEC Hackathon 2026</dc:title>
  <dc:subject>PptxGenJS Presentation</dc:subject>
  <dc:creator>MamaAlert</dc:creator>
  <cp:lastModifiedBy>fahim badgujar</cp:lastModifiedBy>
  <cp:revision>2</cp:revision>
  <dcterms:created xsi:type="dcterms:W3CDTF">2026-05-02T06:26:46Z</dcterms:created>
  <dcterms:modified xsi:type="dcterms:W3CDTF">2026-05-02T06:34:21Z</dcterms:modified>
</cp:coreProperties>
</file>